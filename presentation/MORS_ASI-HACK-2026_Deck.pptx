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38BDF8"/>
                </a:solidFill>
                <a:latin typeface="Orbitron"/>
              </a:rPr>
              <a:t>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2E8F0"/>
                </a:solidFill>
                <a:latin typeface="Orbitron"/>
              </a:rPr>
              <a:t>Scientific Space Analytics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Autonomous Space Telemetry Auditing,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Anomaly Detection &amp;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4D399"/>
                </a:solidFill>
                <a:latin typeface="Segoe UI"/>
              </a:rPr>
              <a:t>منصة تحليل الفضاء العلمية — تدقيق واكتشاف الشذوذ والتحقق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97680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50" b="1">
                <a:solidFill>
                  <a:srgbClr val="FBBF24"/>
                </a:solidFill>
                <a:latin typeface="Consolas"/>
              </a:rPr>
              <a:t>ASI HACK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429768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50" b="1">
                <a:solidFill>
                  <a:srgbClr val="34D399"/>
                </a:solidFill>
                <a:latin typeface="Consolas"/>
              </a:rPr>
              <a:t>CERTIFIED 98/100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4297680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50" b="1">
                <a:solidFill>
                  <a:srgbClr val="38BDF8"/>
                </a:solidFill>
                <a:latin typeface="Consolas"/>
              </a:rPr>
              <a:t>8/8 CONDITIONS</a:t>
            </a:r>
          </a:p>
        </p:txBody>
      </p:sp>
      <p:pic>
        <p:nvPicPr>
          <p:cNvPr id="10" name="Picture 9" descr="01_laun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5120640" cy="2880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37960" y="1325880"/>
            <a:ext cx="5120640" cy="28803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03720" y="429768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Consolas"/>
              </a:rPr>
              <a:t>live deployment · static host · no 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4 agents  ·  19 API modules  ·  1,714 rows  ·  224 audit checks  ·  0 failures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16 curated sources + 8 data sources  ·  report PDF: 44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19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30712"/>
                </a:solidFill>
                <a:latin typeface="Orbitron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194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Orbitron"/>
              </a:rPr>
              <a:t>MORS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onsolas"/>
              </a:rPr>
              <a:t>DATA · SPACE · QUANTUM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laythraad.github.io/ASI-HACK-Space-Analytics-Engine/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2E8F0"/>
                </a:solidFill>
                <a:latin typeface="Orbitron"/>
              </a:rPr>
              <a:t>THE CHALLENGE — VERIFY BEFORE YOU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25296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8BDF8"/>
                </a:solidFill>
                <a:latin typeface="Consolas"/>
              </a:rPr>
              <a:t>raw volume without verification is noise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" cy="71323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5506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Most tools push ML onto telemetry before anyone audits the data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61518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Our own run proved it: the IsolationForest flag rate followed the contamination setting, not real outliers (card P-003).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11880"/>
            <a:ext cx="54864" cy="71323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57530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Data reality after cleaning: 0.158% missing cells · 0 duplicates · 166 QC flags · light-curve S/N 12.5.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54864" cy="71323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53542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Verdict written by the platform: “review-ready, not discovery-grade” — an unfalsifiable model looks scientific while proving nothing.</a:t>
            </a:r>
          </a:p>
        </p:txBody>
      </p:sp>
      <p:pic>
        <p:nvPicPr>
          <p:cNvPr id="13" name="Picture 12" descr="02_mors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577840" cy="313753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1600200"/>
            <a:ext cx="5577840" cy="3137535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72200" y="484632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Consolas"/>
              </a:rPr>
              <a:t>DATA.MORS data-health · 8,873 cells audited per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Orbitron"/>
              </a:rPr>
              <a:t>0.158%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DUPLICATES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Orbitron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COMPLETENESS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Orbitron"/>
              </a:rPr>
              <a:t>99.842%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9731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QC FLAGS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9731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8BDF8"/>
                </a:solidFill>
                <a:latin typeface="Orbitron"/>
              </a:rPr>
              <a:t>166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219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30712"/>
                </a:solidFill>
                <a:latin typeface="Orbitron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194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Orbitron"/>
              </a:rPr>
              <a:t>MORS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onsolas"/>
              </a:rPr>
              <a:t>DATA · SPACE · QUANTUM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4465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laythraad.github.io/ASI-HACK-Space-Analytics-Engine/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2E8F0"/>
                </a:solidFill>
                <a:latin typeface="Orbitron"/>
              </a:rPr>
              <a:t>MORS METHODOLOGY — 9-STAGE SCIENTIFIC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25296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8BDF8"/>
                </a:solidFill>
                <a:latin typeface="Consolas"/>
              </a:rPr>
              <a:t>prompts/aimors_analyst_prompt.txt · 25 operating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801368"/>
            <a:ext cx="365760" cy="2743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013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Orbitron"/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ingest + source badge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6916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98648" y="1801368"/>
            <a:ext cx="365760" cy="2743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8013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Orbitron"/>
              </a:rPr>
              <a:t>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19456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completeness · duplicates · outliers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6916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30368" y="1801368"/>
            <a:ext cx="365760" cy="2743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18013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Orbitron"/>
              </a:rP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19456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EDA · statistics ·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59" y="16916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62087" y="1801368"/>
            <a:ext cx="365760" cy="2743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999" y="18013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Orbitron"/>
              </a:rPr>
              <a:t>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7" y="219456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patterns worth a question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6916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93807" y="1801368"/>
            <a:ext cx="365760" cy="2743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9" y="18013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Orbitron"/>
              </a:rPr>
              <a:t>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7" y="219456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10-key problem card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0632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172968"/>
            <a:ext cx="365760" cy="2743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1729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Orbitron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6616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quantified · reproducible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30632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98648" y="3172968"/>
            <a:ext cx="365760" cy="2743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31729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Orbitron"/>
              </a:rPr>
              <a:t>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8648" y="356616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steps + expected delta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30632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230368" y="3172968"/>
            <a:ext cx="365760" cy="2743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79" y="31729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Orbitron"/>
              </a:rPr>
              <a:t>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356616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council of five experts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59" y="306324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62087" y="3172968"/>
            <a:ext cx="365760" cy="274320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0999" y="31729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2E8F0"/>
                </a:solidFill>
                <a:latin typeface="Orbitron"/>
              </a:rPr>
              <a:t>RECOMMENDATION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2087" y="356616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Segoe UI"/>
              </a:rPr>
              <a:t>report · trace · publish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72000"/>
            <a:ext cx="11292840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70916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Orbitron"/>
              </a:rPr>
              <a:t>TWO HARD 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029200"/>
            <a:ext cx="5303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1 · Do not use AI for the sake of AI — if statistics answer the question, use statistics.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029200"/>
            <a:ext cx="5303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2 · Every published value carries source · timestamp · method · operator (traceability badge).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" y="219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30712"/>
                </a:solidFill>
                <a:latin typeface="Orbitron"/>
              </a:rPr>
              <a:t>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2194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Orbitron"/>
              </a:rPr>
              <a:t>MORS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onsolas"/>
              </a:rPr>
              <a:t>DATA · SPACE · QUANTUM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4465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laythraad.github.io/ASI-HACK-Space-Analytics-Engine/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2E8F0"/>
                </a:solidFill>
                <a:latin typeface="Orbitron"/>
              </a:rPr>
              <a:t>SATELLITE.MORS — FLEET TELEMETRY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25296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8BDF8"/>
                </a:solidFill>
                <a:latin typeface="Consolas"/>
              </a:rPr>
              <a:t>TLE → Keplerian elements → orbit class · live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55064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50 satellites tracked: altitude 167–36,163 km (LEO → GEO), velocity, inclination, period, perigee/apogee, NORAD 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88920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752344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Physics is shown, not hidden: a = (GM/n²)^(1/3), v = sqrt(GM/a), LEO &lt; 2,000 km ≤ MEO ≤ GEO belt.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849624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Sensor layer: multispectral imager · 30 m resolution · 290 km swath · telemetry mode · next 5 passes with max elevation.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83480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946904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Spectral bands Blue 490 · Green 560 · Red 665 · NIR 842 · SWIR1 1610 nm → NDVI / NDWI / NDBI + PCA (94.6% variance in 2 components).</a:t>
            </a:r>
          </a:p>
        </p:txBody>
      </p:sp>
      <p:pic>
        <p:nvPicPr>
          <p:cNvPr id="13" name="Picture 12" descr="04_satel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577840" cy="313753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1600200"/>
            <a:ext cx="5577840" cy="3137535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72200" y="484632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Consolas"/>
              </a:rPr>
              <a:t>SATELLITE.MORS · fleet table + orbit map + band tabs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SATELLITES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8BDF8"/>
                </a:solidFill>
                <a:latin typeface="Orbitron"/>
              </a:rPr>
              <a:t>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ALT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8BDF8"/>
                </a:solidFill>
                <a:latin typeface="Orbitron"/>
              </a:rPr>
              <a:t>167–36,163 km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8BDF8"/>
                </a:solidFill>
                <a:latin typeface="Orbitron"/>
              </a:rPr>
              <a:t>30 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9731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SWATH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9731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8BDF8"/>
                </a:solidFill>
                <a:latin typeface="Orbitron"/>
              </a:rPr>
              <a:t>290 km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219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30712"/>
                </a:solidFill>
                <a:latin typeface="Orbitron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194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Orbitron"/>
              </a:rPr>
              <a:t>MORS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onsolas"/>
              </a:rPr>
              <a:t>DATA · SPACE · QUANTUM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4465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laythraad.github.io/ASI-HACK-Space-Analytics-Engine/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2E8F0"/>
                </a:solidFill>
                <a:latin typeface="Orbitron"/>
              </a:rPr>
              <a:t>PROBLEMS → SOLUTIONS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25296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8BDF8"/>
                </a:solidFill>
                <a:latin typeface="Consolas"/>
              </a:rPr>
              <a:t>evidence · root cause · fix · measurable delta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55064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Every anomaly is a 10-key card: symptom · root cause · fix · evidence · severity · category · component · priority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88920"/>
            <a:ext cx="54864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752344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Priority is arithmetic, not opinion: 0.40·evidence + 0.35·impact + 0.25·confidence, printed on the card.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54864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849624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When Gemini 429 hits, council drops to local_fallback → expected delta  council.engine: local_fallback → gemini.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83480"/>
            <a:ext cx="54864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946904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Spectral indices are reference-labelled (card open while that holds) → delta  provenance: reference spectra → scene-identified L2A.</a:t>
            </a:r>
          </a:p>
        </p:txBody>
      </p:sp>
      <p:pic>
        <p:nvPicPr>
          <p:cNvPr id="13" name="Picture 12" descr="06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577840" cy="313753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1600200"/>
            <a:ext cx="5577840" cy="3137535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72200" y="484632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Consolas"/>
              </a:rPr>
              <a:t>SOLUTIONS.MORS · path, steps, effort, expected delta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OPEN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BBF24"/>
                </a:solidFill>
                <a:latin typeface="Orbitron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BBF24"/>
                </a:solidFill>
                <a:latin typeface="Orbitron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BBF24"/>
                </a:solidFill>
                <a:latin typeface="Orbitron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516636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97312" y="5257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onsolas"/>
              </a:rPr>
              <a:t>SCHEMA KEYS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97312" y="553212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BBF24"/>
                </a:solidFill>
                <a:latin typeface="Orbitron"/>
              </a:rPr>
              <a:t>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219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30712"/>
                </a:solidFill>
                <a:latin typeface="Orbitron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194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Orbitron"/>
              </a:rPr>
              <a:t>MORS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onsolas"/>
              </a:rPr>
              <a:t>DATA · SPACE · QUANTUM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4465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laythraad.github.io/ASI-HACK-Space-Analytics-Engine/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2E8F0"/>
                </a:solidFill>
                <a:latin typeface="Orbitron"/>
              </a:rPr>
              <a:t>TRUSTWORTHY AI — CONFIDENCE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25296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8BDF8"/>
                </a:solidFill>
                <a:latin typeface="Consolas"/>
              </a:rPr>
              <a:t>what the platform actually prints on every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BBF24"/>
                </a:solidFill>
                <a:latin typeface="Orbitron"/>
              </a:rPr>
              <a:t>STANDARD AI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0292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▪ Model runs first, data quality never inspected.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▪ Single number published, no error bounds.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▪ No source, no timestamp, no operator recorded.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▪ Failure mode looks like a confident answer.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▪ Cannot be re-run or falsified by a judge.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Orbitron"/>
              </a:rPr>
              <a:t>MORS XAI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50292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▪ Data audit first — ML only when statistics are insufficient.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▪ Confidence level + priority formula published per card.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▪ Every value carries source · timestamp · method · operator.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▪ Engine honesty: local_fallback is labelled, never disguised.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▪ Council of five experts cross-checks and corrects claims.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Consolas"/>
              </a:rPr>
              <a:t>5-TIER PROTOCOL ON EVERY AI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950" b="1">
                <a:solidFill>
                  <a:srgbClr val="34D399"/>
                </a:solidFill>
                <a:latin typeface="Consolas"/>
              </a:rPr>
              <a:t>[Observed Data]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66928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950" b="1">
                <a:solidFill>
                  <a:srgbClr val="34D399"/>
                </a:solidFill>
                <a:latin typeface="Consolas"/>
              </a:rPr>
              <a:t>[Calculated Metric]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566928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950" b="1">
                <a:solidFill>
                  <a:srgbClr val="34D399"/>
                </a:solidFill>
                <a:latin typeface="Consolas"/>
              </a:rPr>
              <a:t>[AI Interpretation]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566928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950" b="1">
                <a:solidFill>
                  <a:srgbClr val="34D399"/>
                </a:solidFill>
                <a:latin typeface="Consolas"/>
              </a:rPr>
              <a:t>[Hypothesis]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5669280"/>
            <a:ext cx="2148840" cy="384048"/>
          </a:xfrm>
          <a:prstGeom prst="roundRect">
            <a:avLst>
              <a:gd name="adj" fmla="val 8000"/>
            </a:avLst>
          </a:prstGeom>
          <a:solidFill>
            <a:srgbClr val="111A2C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18288" bIns="18288"/>
          <a:lstStyle/>
          <a:p>
            <a:pPr algn="ctr"/>
            <a:r>
              <a:rPr sz="950" b="1">
                <a:solidFill>
                  <a:srgbClr val="34D399"/>
                </a:solidFill>
                <a:latin typeface="Consolas"/>
              </a:rPr>
              <a:t>[Suggested Action]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19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30712"/>
                </a:solidFill>
                <a:latin typeface="Orbitron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194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Orbitron"/>
              </a:rPr>
              <a:t>MORS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onsolas"/>
              </a:rPr>
              <a:t>DATA · SPACE · QUANTUM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laythraad.github.io/ASI-HACK-Space-Analytics-Engine/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2E8F0"/>
                </a:solidFill>
                <a:latin typeface="Orbitron"/>
              </a:rPr>
              <a:t>HIGH-DENSITY SCIENTIFIC UI /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25296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8BDF8"/>
                </a:solidFill>
                <a:latin typeface="Consolas"/>
              </a:rPr>
              <a:t>dark glassmorphism · Orbitron + IBM Plex Mono + Cairo</a:t>
            </a:r>
          </a:p>
        </p:txBody>
      </p:sp>
      <p:pic>
        <p:nvPicPr>
          <p:cNvPr id="5" name="Picture 4" descr="02_mors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5577840" cy="31375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600200"/>
            <a:ext cx="5577840" cy="3137535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3_theme_m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577840" cy="31375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72200" y="1600200"/>
            <a:ext cx="5577840" cy="3137535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Consolas"/>
              </a:rPr>
              <a:t>EARTH CYAN · dark glass panels · lifecycle ribbon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846320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Consolas"/>
              </a:rPr>
              <a:t>MARS RUST · planet theme engine · one click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5577840" cy="10515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32180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Planet themes: Earth · Mars · Jupiter · Saturn · Neptune · Moon,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plus light/dark, accent layers, grid and particle toggles.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5212080"/>
            <a:ext cx="5577840" cy="10515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532180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Accordion sidebar: DATA · ASTRONOMY · SATELLITE · QUANTUM · AI ·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PROBLEMS→SOLUTIONS, with global search and instant switching.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19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30712"/>
                </a:solidFill>
                <a:latin typeface="Orbitron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194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Orbitron"/>
              </a:rPr>
              <a:t>MORS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onsolas"/>
              </a:rPr>
              <a:t>DATA · SPACE · QUANTUM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laythraad.github.io/ASI-HACK-Space-Analytics-Engine/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2E8F0"/>
                </a:solidFill>
                <a:latin typeface="Orbitron"/>
              </a:rPr>
              <a:t>ENGINEERING CAPABILITIES — TEAM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25296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8BDF8"/>
                </a:solidFill>
                <a:latin typeface="Consolas"/>
              </a:rPr>
              <a:t>4 members · published roles · module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8BDF8"/>
                </a:solidFill>
                <a:latin typeface="Orbitron"/>
              </a:rPr>
              <a:t>TEAM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ليث رعد · Layth Ra'ad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Segoe UI"/>
              </a:rPr>
              <a:t>System Architecture · Pipeline Orchestration · Scientific Computing · Technical Review · Scientific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15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Consolas"/>
              </a:rPr>
              <a:t>owns: MORS architecture · HOME · PROJECTS ·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6479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4D399"/>
                </a:solidFill>
                <a:latin typeface="Orbitron"/>
              </a:rPr>
              <a:t>DATA 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role seat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Segoe UI"/>
              </a:rPr>
              <a:t>Data Cleaning · EDA · Statistical Analysis · Time Series · Anomaly Detection · SQL · 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4015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Consolas"/>
              </a:rPr>
              <a:t>owns: DATA.MORS · PROBLEMS.MORS · SOLUTIONS.MORS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1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BBF24"/>
                </a:solidFill>
                <a:latin typeface="Orbitron"/>
              </a:rPr>
              <a:t>ASTRONOMY RESEARCHER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role seat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59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Segoe UI"/>
              </a:rPr>
              <a:t>Astropy · FITS Analysis · Photometry · Spectroscopy · Light-Curve Analysis · Sky Coordinates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3328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Consolas"/>
              </a:rPr>
              <a:t>owns: ASTRONOMY.MORS · SOURCES.MORS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977639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096511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8BDF8"/>
                </a:solidFill>
                <a:latin typeface="Orbitron"/>
              </a:rPr>
              <a:t>SPACE SYSTEMS &amp; AI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891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role seat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709159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Segoe UI"/>
              </a:rPr>
              <a:t>Satellite &amp; Orbit Analysis · AI Model Integration · Quantum Computing · Remote Sensing · Scientific Computing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73328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Consolas"/>
              </a:rPr>
              <a:t>owns: AI.MORS · SATELLITE.MORS · QUANTUM.MORS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219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30712"/>
                </a:solidFill>
                <a:latin typeface="Orbitron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194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Orbitron"/>
              </a:rPr>
              <a:t>MORS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onsolas"/>
              </a:rPr>
              <a:t>DATA · SPACE · QUANTUM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laythraad.github.io/ASI-HACK-Space-Analytics-Engine/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2E8F0"/>
                </a:solidFill>
                <a:latin typeface="Orbitron"/>
              </a:rPr>
              <a:t>MEASURABLE PLATFORM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25296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8BDF8"/>
                </a:solidFill>
                <a:latin typeface="Consolas"/>
              </a:rPr>
              <a:t>every number below is printed by the live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8BDF8"/>
                </a:solidFill>
                <a:latin typeface="Orbitron"/>
              </a:rPr>
              <a:t>224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AUTOMATED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 failures · ~1 min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9164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74519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4D399"/>
                </a:solidFill>
                <a:latin typeface="Orbitron"/>
              </a:rPr>
              <a:t>99.842%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80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8,873 cells · 1,714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BBF24"/>
                </a:solidFill>
                <a:latin typeface="Orbitron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80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source · time · method · operator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9164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874519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8BDF8"/>
                </a:solidFill>
                <a:latin typeface="Orbitron"/>
              </a:rPr>
              <a:t>98/100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60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Consolas"/>
              </a:rPr>
              <a:t>COUNCIL 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80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CERTIFIED · 5 experts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86200"/>
            <a:ext cx="11292840" cy="21488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Orbitron"/>
              </a:rPr>
              <a:t>SUPPORTING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891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▸ 21 cited formulas · 14 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3891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▸ 16 curated sources + 12 data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7316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▸ 8 live endpoints (NASA · NOAA · CelesTrak · GIBS)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77316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▸ 8/8 challenge conditions (7 core + 1 extension)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57216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▸ 18 UI modules · 19 registered endpoints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157216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▸ 6 published master 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41264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▸ 5 problem cards · 10-key schema each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541264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▸ 44-page scientific report, auto-generated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219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30712"/>
                </a:solidFill>
                <a:latin typeface="Orbitron"/>
              </a:rPr>
              <a:t>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2194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Orbitron"/>
              </a:rPr>
              <a:t>MORS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onsolas"/>
              </a:rPr>
              <a:t>DATA · SPACE · QUANTUM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4465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laythraad.github.io/ASI-HACK-Space-Analytics-Engine/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30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2E8F0"/>
                </a:solidFill>
                <a:latin typeface="Orbitron"/>
              </a:rPr>
              <a:t>THE FUTURE OF SPACE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25296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8BDF8"/>
                </a:solidFill>
                <a:latin typeface="Consolas"/>
              </a:rPr>
              <a:t>build · learn · innovate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Try the live engine — no install, no account: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38BDF8"/>
                </a:solidFill>
                <a:latin typeface="Orbitron"/>
              </a:rPr>
              <a:t>https://laythraad.github.io/ASI-HACK-Space-Analytics-Engine/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6949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Next: deeper NASA / ESA live integration,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real Sentinel-2 L2A scene ingestion for the spectral module,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and scaling the quantum block beyond the classical statevector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(labelled honestly today as simulation, never as QPU output).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6949440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6583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4D399"/>
                </a:solidFill>
                <a:latin typeface="Consolas"/>
              </a:rPr>
              <a:t>CERTIFIED 98/100 · 224 checks · 0 failures · 8/8 conditions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4D399"/>
                </a:solidFill>
                <a:latin typeface="Consolas"/>
              </a:rPr>
              <a:t>Open the link above and click through every module yourself.</a:t>
            </a:r>
          </a:p>
        </p:txBody>
      </p:sp>
      <p:pic>
        <p:nvPicPr>
          <p:cNvPr id="10" name="Picture 9" descr="qr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920240"/>
            <a:ext cx="237744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78240" y="43891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SCAN → 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93776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Team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2E8F0"/>
                </a:solidFill>
                <a:latin typeface="Segoe UI"/>
              </a:rPr>
              <a:t>ليث رعد (Team Leader)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Data Analyst · Astronomy Researcher ·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Space Systems &amp; AI Engineer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1945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30712"/>
                </a:solidFill>
                <a:latin typeface="Orbitron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94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Orbitron"/>
              </a:rPr>
              <a:t>MORS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onsolas"/>
              </a:rPr>
              <a:t>DATA · SPACE · QUANTUM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laythraad.github.io/ASI-HACK-Space-Analytics-Engine/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