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030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38BDF8"/>
                </a:solidFill>
                <a:latin typeface="Orbitron"/>
              </a:rPr>
              <a:t>MORS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5394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E2E8F0"/>
                </a:solidFill>
                <a:latin typeface="Orbitron"/>
              </a:rPr>
              <a:t>Scientific Space Analytics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971800"/>
            <a:ext cx="5394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Autonomous Space Telemetry Auditing,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Anomaly Detection &amp;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70332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34D399"/>
                </a:solidFill>
                <a:latin typeface="Segoe UI"/>
              </a:rPr>
              <a:t>منصة تحليل الفضاء العلمية — تدقيق واكتشاف الشذوذ والتحقق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97680"/>
            <a:ext cx="1874519" cy="38404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952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18288" bIns="18288"/>
          <a:lstStyle/>
          <a:p>
            <a:pPr algn="ctr"/>
            <a:r>
              <a:rPr sz="1050" b="1">
                <a:solidFill>
                  <a:srgbClr val="FBBF24"/>
                </a:solidFill>
                <a:latin typeface="Consolas"/>
              </a:rPr>
              <a:t>ASI HACK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51760" y="4297680"/>
            <a:ext cx="2148840" cy="38404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18288" bIns="18288"/>
          <a:lstStyle/>
          <a:p>
            <a:pPr algn="ctr"/>
            <a:r>
              <a:rPr sz="1050" b="1">
                <a:solidFill>
                  <a:srgbClr val="34D399"/>
                </a:solidFill>
                <a:latin typeface="Consolas"/>
              </a:rPr>
              <a:t>CERTIFIED 96/100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0" y="4297680"/>
            <a:ext cx="1874519" cy="38404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952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18288" bIns="18288"/>
          <a:lstStyle/>
          <a:p>
            <a:pPr algn="ctr"/>
            <a:r>
              <a:rPr sz="1050" b="1">
                <a:solidFill>
                  <a:srgbClr val="38BDF8"/>
                </a:solidFill>
                <a:latin typeface="Consolas"/>
              </a:rPr>
              <a:t>8/8 CONDITIONS</a:t>
            </a:r>
          </a:p>
        </p:txBody>
      </p:sp>
      <p:pic>
        <p:nvPicPr>
          <p:cNvPr id="10" name="Picture 9" descr="01_launch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325880"/>
            <a:ext cx="5120640" cy="288036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537960" y="1325880"/>
            <a:ext cx="5120640" cy="2880360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03720" y="4297680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Consolas"/>
              </a:rPr>
              <a:t>live deployment · static host · no install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29200"/>
            <a:ext cx="5852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E2E8F0"/>
                </a:solidFill>
                <a:latin typeface="Consolas"/>
              </a:rPr>
              <a:t>4 agents  ·  18 modules  ·  1,711 rows  ·  225 audit checks  ·  0 failures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E2E8F0"/>
                </a:solidFill>
                <a:latin typeface="Consolas"/>
              </a:rPr>
              <a:t>16 curated sources + 12 data sources  ·  report PDF: 44 pages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219456"/>
            <a:ext cx="384048" cy="384048"/>
          </a:xfrm>
          <a:prstGeom prst="roundRect">
            <a:avLst>
              <a:gd name="adj" fmla="val 8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30712"/>
                </a:solidFill>
                <a:latin typeface="Orbitron"/>
              </a:rPr>
              <a:t>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19456"/>
            <a:ext cx="2194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2E8F0"/>
                </a:solidFill>
                <a:latin typeface="Orbitron"/>
              </a:rPr>
              <a:t>MORS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onsolas"/>
              </a:rPr>
              <a:t>DATA · SPACE · QUANTUM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446520"/>
            <a:ext cx="5394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laythraad.github.io/ASI-HACK-Space-Analytics-Engine/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01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030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338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E2E8F0"/>
                </a:solidFill>
                <a:latin typeface="Orbitron"/>
              </a:rPr>
              <a:t>THE CHALLENGE — VERIFY BEFORE YOU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25296"/>
            <a:ext cx="11338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8BDF8"/>
                </a:solidFill>
                <a:latin typeface="Consolas"/>
              </a:rPr>
              <a:t>raw volume without verification is noise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54864" cy="71323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55064"/>
            <a:ext cx="50749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2E8F0"/>
                </a:solidFill>
                <a:latin typeface="Segoe UI"/>
              </a:rPr>
              <a:t>Most tools push ML onto telemetry before anyone audits the data itself.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51760"/>
            <a:ext cx="54864" cy="71323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615184"/>
            <a:ext cx="50749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2E8F0"/>
                </a:solidFill>
                <a:latin typeface="Segoe UI"/>
              </a:rPr>
              <a:t>Our own run proved it: the IsolationForest flag rate followed the contamination setting, not real outliers (card P-003).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611880"/>
            <a:ext cx="54864" cy="71323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3575304"/>
            <a:ext cx="50749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2E8F0"/>
                </a:solidFill>
                <a:latin typeface="Segoe UI"/>
              </a:rPr>
              <a:t>Data reality after cleaning: 0.192% missing cells · 0 duplicates · 167 QC flags · light-curve S/N 12.5.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572000"/>
            <a:ext cx="54864" cy="71323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535424"/>
            <a:ext cx="50749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2E8F0"/>
                </a:solidFill>
                <a:latin typeface="Segoe UI"/>
              </a:rPr>
              <a:t>Verdict written by the platform: “review-ready, not discovery-grade” — an unfalsifiable model looks scientific while proving nothing.</a:t>
            </a:r>
          </a:p>
        </p:txBody>
      </p:sp>
      <p:pic>
        <p:nvPicPr>
          <p:cNvPr id="13" name="Picture 12" descr="02_mors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600200"/>
            <a:ext cx="5577840" cy="3137535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172200" y="1600200"/>
            <a:ext cx="5577840" cy="3137535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72200" y="4846320"/>
            <a:ext cx="5577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Consolas"/>
              </a:rPr>
              <a:t>DATA.MORS data-health · 8,840 cells audited per run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5166360"/>
            <a:ext cx="1325880" cy="914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5352" y="525780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Consolas"/>
              </a:rPr>
              <a:t>MISSING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5352" y="5532120"/>
            <a:ext cx="1188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8BDF8"/>
                </a:solidFill>
                <a:latin typeface="Orbitron"/>
              </a:rPr>
              <a:t>0.192%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0" y="5166360"/>
            <a:ext cx="1325880" cy="914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62672" y="525780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Consolas"/>
              </a:rPr>
              <a:t>DUPLICATES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62672" y="5532120"/>
            <a:ext cx="1188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8BDF8"/>
                </a:solidFill>
                <a:latin typeface="Orbitron"/>
              </a:rPr>
              <a:t>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06840" y="5166360"/>
            <a:ext cx="1325880" cy="914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9992" y="525780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Consolas"/>
              </a:rPr>
              <a:t>COMPLETENESS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9992" y="5532120"/>
            <a:ext cx="1188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8BDF8"/>
                </a:solidFill>
                <a:latin typeface="Orbitron"/>
              </a:rPr>
              <a:t>99.808%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424160" y="5166360"/>
            <a:ext cx="1325880" cy="914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97312" y="525780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Consolas"/>
              </a:rPr>
              <a:t>QC FLAGS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97312" y="5532120"/>
            <a:ext cx="1188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8BDF8"/>
                </a:solidFill>
                <a:latin typeface="Orbitron"/>
              </a:rPr>
              <a:t>167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0040" y="219456"/>
            <a:ext cx="384048" cy="384048"/>
          </a:xfrm>
          <a:prstGeom prst="roundRect">
            <a:avLst>
              <a:gd name="adj" fmla="val 8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30712"/>
                </a:solidFill>
                <a:latin typeface="Orbitron"/>
              </a:rPr>
              <a:t>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219456"/>
            <a:ext cx="2194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2E8F0"/>
                </a:solidFill>
                <a:latin typeface="Orbitron"/>
              </a:rPr>
              <a:t>MORS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onsolas"/>
              </a:rPr>
              <a:t>DATA · SPACE · QUANTUM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6446520"/>
            <a:ext cx="5394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laythraad.github.io/ASI-HACK-Space-Analytics-Engine/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030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338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E2E8F0"/>
                </a:solidFill>
                <a:latin typeface="Orbitron"/>
              </a:rPr>
              <a:t>MORS METHODOLOGY — 9-STAGE SCIENTIFIC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25296"/>
            <a:ext cx="11338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8BDF8"/>
                </a:solidFill>
                <a:latin typeface="Consolas"/>
              </a:rPr>
              <a:t>prompts/aimors_analyst_prompt.txt · 25 operating rules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91640"/>
            <a:ext cx="2194560" cy="11887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801368"/>
            <a:ext cx="365760" cy="2743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952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18288" bIns="18288"/>
          <a:lstStyle/>
          <a:p>
            <a:pPr algn="ctr"/>
            <a:r>
              <a:rPr sz="1000" b="1">
                <a:solidFill>
                  <a:srgbClr val="38BDF8"/>
                </a:solidFill>
                <a:latin typeface="Consola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801368"/>
            <a:ext cx="1554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E2E8F0"/>
                </a:solidFill>
                <a:latin typeface="Orbitron"/>
              </a:rPr>
              <a:t>RAW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94560"/>
            <a:ext cx="1965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Segoe UI"/>
              </a:rPr>
              <a:t>ingest + source badge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8920" y="1691640"/>
            <a:ext cx="2194560" cy="11887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98648" y="1801368"/>
            <a:ext cx="365760" cy="2743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952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18288" bIns="18288"/>
          <a:lstStyle/>
          <a:p>
            <a:pPr algn="ctr"/>
            <a:r>
              <a:rPr sz="1000" b="1">
                <a:solidFill>
                  <a:srgbClr val="38BDF8"/>
                </a:solidFill>
                <a:latin typeface="Consola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801368"/>
            <a:ext cx="1554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E2E8F0"/>
                </a:solidFill>
                <a:latin typeface="Orbitron"/>
              </a:rPr>
              <a:t>DATA QUALITY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8648" y="2194560"/>
            <a:ext cx="1965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Segoe UI"/>
              </a:rPr>
              <a:t>completeness · duplicates · outliers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691640"/>
            <a:ext cx="2194560" cy="11887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30368" y="1801368"/>
            <a:ext cx="365760" cy="2743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952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18288" bIns="18288"/>
          <a:lstStyle/>
          <a:p>
            <a:pPr algn="ctr"/>
            <a:r>
              <a:rPr sz="1000" b="1">
                <a:solidFill>
                  <a:srgbClr val="38BDF8"/>
                </a:solidFill>
                <a:latin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79" y="1801368"/>
            <a:ext cx="1554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E2E8F0"/>
                </a:solidFill>
                <a:latin typeface="Orbitron"/>
              </a:rPr>
              <a:t>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0368" y="2194560"/>
            <a:ext cx="1965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Segoe UI"/>
              </a:rPr>
              <a:t>EDA · statistics · signals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52359" y="1691640"/>
            <a:ext cx="2194560" cy="11887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562087" y="1801368"/>
            <a:ext cx="365760" cy="2743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952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18288" bIns="18288"/>
          <a:lstStyle/>
          <a:p>
            <a:pPr algn="ctr"/>
            <a:r>
              <a:rPr sz="1000" b="1">
                <a:solidFill>
                  <a:srgbClr val="38BDF8"/>
                </a:solidFill>
                <a:latin typeface="Consola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0999" y="1801368"/>
            <a:ext cx="1554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E2E8F0"/>
                </a:solidFill>
                <a:latin typeface="Orbitron"/>
              </a:rPr>
              <a:t>DISCOVERY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62087" y="2194560"/>
            <a:ext cx="1965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Segoe UI"/>
              </a:rPr>
              <a:t>patterns worth a question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84080" y="1691640"/>
            <a:ext cx="2194560" cy="11887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893807" y="1801368"/>
            <a:ext cx="365760" cy="2743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952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18288" bIns="18288"/>
          <a:lstStyle/>
          <a:p>
            <a:pPr algn="ctr"/>
            <a:r>
              <a:rPr sz="1000" b="1">
                <a:solidFill>
                  <a:srgbClr val="38BDF8"/>
                </a:solidFill>
                <a:latin typeface="Consolas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19" y="1801368"/>
            <a:ext cx="1554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E2E8F0"/>
                </a:solidFill>
                <a:latin typeface="Orbitron"/>
              </a:rPr>
              <a:t>PROBLEM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93807" y="2194560"/>
            <a:ext cx="1965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Segoe UI"/>
              </a:rPr>
              <a:t>10-key problem card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063240"/>
            <a:ext cx="2194560" cy="11887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66928" y="3172968"/>
            <a:ext cx="365760" cy="2743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952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18288" bIns="18288"/>
          <a:lstStyle/>
          <a:p>
            <a:pPr algn="ctr"/>
            <a:r>
              <a:rPr sz="1000" b="1">
                <a:solidFill>
                  <a:srgbClr val="38BDF8"/>
                </a:solidFill>
                <a:latin typeface="Consola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172968"/>
            <a:ext cx="1554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E2E8F0"/>
                </a:solidFill>
                <a:latin typeface="Orbitron"/>
              </a:rPr>
              <a:t>EVIDENCE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3566160"/>
            <a:ext cx="1965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Segoe UI"/>
              </a:rPr>
              <a:t>quantified · reproducible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88920" y="3063240"/>
            <a:ext cx="2194560" cy="11887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898648" y="3172968"/>
            <a:ext cx="365760" cy="2743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952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18288" bIns="18288"/>
          <a:lstStyle/>
          <a:p>
            <a:pPr algn="ctr"/>
            <a:r>
              <a:rPr sz="1000" b="1">
                <a:solidFill>
                  <a:srgbClr val="38BDF8"/>
                </a:solidFill>
                <a:latin typeface="Consolas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37560" y="3172968"/>
            <a:ext cx="1554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E2E8F0"/>
                </a:solidFill>
                <a:latin typeface="Orbitron"/>
              </a:rPr>
              <a:t>SOLUTION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98648" y="3566160"/>
            <a:ext cx="1965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Segoe UI"/>
              </a:rPr>
              <a:t>steps + expected delta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120640" y="3063240"/>
            <a:ext cx="2194560" cy="11887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230368" y="3172968"/>
            <a:ext cx="365760" cy="2743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952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18288" bIns="18288"/>
          <a:lstStyle/>
          <a:p>
            <a:pPr algn="ctr"/>
            <a:r>
              <a:rPr sz="1000" b="1">
                <a:solidFill>
                  <a:srgbClr val="38BDF8"/>
                </a:solidFill>
                <a:latin typeface="Consolas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79" y="3172968"/>
            <a:ext cx="1554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E2E8F0"/>
                </a:solidFill>
                <a:latin typeface="Orbitron"/>
              </a:rPr>
              <a:t>VERIFICATION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30368" y="3566160"/>
            <a:ext cx="1965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Segoe UI"/>
              </a:rPr>
              <a:t>council of five experts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52359" y="3063240"/>
            <a:ext cx="2194560" cy="11887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562087" y="3172968"/>
            <a:ext cx="365760" cy="2743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952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18288" bIns="18288"/>
          <a:lstStyle/>
          <a:p>
            <a:pPr algn="ctr"/>
            <a:r>
              <a:rPr sz="1000" b="1">
                <a:solidFill>
                  <a:srgbClr val="38BDF8"/>
                </a:solidFill>
                <a:latin typeface="Consolas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0999" y="3172968"/>
            <a:ext cx="1554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E2E8F0"/>
                </a:solidFill>
                <a:latin typeface="Orbitron"/>
              </a:rPr>
              <a:t>RECOMMENDATION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62087" y="3566160"/>
            <a:ext cx="1965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Segoe UI"/>
              </a:rPr>
              <a:t>report · trace · publish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572000"/>
            <a:ext cx="11292840" cy="1554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470916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8BDF8"/>
                </a:solidFill>
                <a:latin typeface="Orbitron"/>
              </a:rPr>
              <a:t>TWO HARD RULES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5029200"/>
            <a:ext cx="5303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2E8F0"/>
                </a:solidFill>
                <a:latin typeface="Segoe UI"/>
              </a:rPr>
              <a:t>1 · Do not use AI for the sake of AI — if statistics answer the question, use statistics.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0" y="5029200"/>
            <a:ext cx="5303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2E8F0"/>
                </a:solidFill>
                <a:latin typeface="Segoe UI"/>
              </a:rPr>
              <a:t>2 · Every published value carries source · timestamp · method · operator (traceability badge).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0040" y="219456"/>
            <a:ext cx="384048" cy="384048"/>
          </a:xfrm>
          <a:prstGeom prst="roundRect">
            <a:avLst>
              <a:gd name="adj" fmla="val 8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30712"/>
                </a:solidFill>
                <a:latin typeface="Orbitron"/>
              </a:rPr>
              <a:t>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219456"/>
            <a:ext cx="2194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2E8F0"/>
                </a:solidFill>
                <a:latin typeface="Orbitron"/>
              </a:rPr>
              <a:t>MORS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onsolas"/>
              </a:rPr>
              <a:t>DATA · SPACE · QUANTUM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6446520"/>
            <a:ext cx="5394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laythraad.github.io/ASI-HACK-Space-Analytics-Engine/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" y="6446520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030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338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E2E8F0"/>
                </a:solidFill>
                <a:latin typeface="Orbitron"/>
              </a:rPr>
              <a:t>SATELLITE.MORS — FLEET TELEMETRY INSPECTOR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25296"/>
            <a:ext cx="11338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8BDF8"/>
                </a:solidFill>
                <a:latin typeface="Consolas"/>
              </a:rPr>
              <a:t>TLE → Keplerian elements → orbit class · live module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54864" cy="86868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55064"/>
            <a:ext cx="5074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2E8F0"/>
                </a:solidFill>
                <a:latin typeface="Segoe UI"/>
              </a:rPr>
              <a:t>50 satellites tracked: altitude 167–36,163 km (LEO → GEO), velocity, inclination, period, perigee/apogee, NORAD ID.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88920"/>
            <a:ext cx="54864" cy="86868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752344"/>
            <a:ext cx="5074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2E8F0"/>
                </a:solidFill>
                <a:latin typeface="Segoe UI"/>
              </a:rPr>
              <a:t>Physics is shown, not hidden: a = (GM/n²)^(1/3), v = sqrt(GM/a), LEO &lt; 2,000 km ≤ MEO ≤ GEO belt.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886200"/>
            <a:ext cx="54864" cy="86868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3849624"/>
            <a:ext cx="5074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2E8F0"/>
                </a:solidFill>
                <a:latin typeface="Segoe UI"/>
              </a:rPr>
              <a:t>Sensor layer: multispectral imager · 30 m resolution · 290 km swath · telemetry mode · next 5 passes with max elevation.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983480"/>
            <a:ext cx="54864" cy="86868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946904"/>
            <a:ext cx="5074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2E8F0"/>
                </a:solidFill>
                <a:latin typeface="Segoe UI"/>
              </a:rPr>
              <a:t>Spectral bands Blue 490 · Green 560 · Red 665 · NIR 842 · SWIR1 1610 nm → NDVI / NDWI / NDBI + PCA (94.6% variance in 2 components).</a:t>
            </a:r>
          </a:p>
        </p:txBody>
      </p:sp>
      <p:pic>
        <p:nvPicPr>
          <p:cNvPr id="13" name="Picture 12" descr="04_satell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600200"/>
            <a:ext cx="5577840" cy="3137535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172200" y="1600200"/>
            <a:ext cx="5577840" cy="3137535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72200" y="4846320"/>
            <a:ext cx="5577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Consolas"/>
              </a:rPr>
              <a:t>SATELLITE.MORS · fleet table + orbit map + band tabs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5166360"/>
            <a:ext cx="1325880" cy="914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5352" y="525780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Consolas"/>
              </a:rPr>
              <a:t>SATELLITES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5352" y="5532120"/>
            <a:ext cx="1188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38BDF8"/>
                </a:solidFill>
                <a:latin typeface="Orbitron"/>
              </a:rPr>
              <a:t>50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0" y="5166360"/>
            <a:ext cx="1325880" cy="914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62672" y="525780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Consolas"/>
              </a:rPr>
              <a:t>ALT RANGE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62672" y="5532120"/>
            <a:ext cx="1188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38BDF8"/>
                </a:solidFill>
                <a:latin typeface="Orbitron"/>
              </a:rPr>
              <a:t>167–36,163 km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06840" y="5166360"/>
            <a:ext cx="1325880" cy="914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9992" y="525780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Consolas"/>
              </a:rPr>
              <a:t>RESOLUTION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9992" y="5532120"/>
            <a:ext cx="1188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38BDF8"/>
                </a:solidFill>
                <a:latin typeface="Orbitron"/>
              </a:rPr>
              <a:t>30 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424160" y="5166360"/>
            <a:ext cx="1325880" cy="914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97312" y="525780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Consolas"/>
              </a:rPr>
              <a:t>SWATH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97312" y="5532120"/>
            <a:ext cx="1188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38BDF8"/>
                </a:solidFill>
                <a:latin typeface="Orbitron"/>
              </a:rPr>
              <a:t>290 km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0040" y="219456"/>
            <a:ext cx="384048" cy="384048"/>
          </a:xfrm>
          <a:prstGeom prst="roundRect">
            <a:avLst>
              <a:gd name="adj" fmla="val 8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30712"/>
                </a:solidFill>
                <a:latin typeface="Orbitron"/>
              </a:rPr>
              <a:t>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219456"/>
            <a:ext cx="2194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2E8F0"/>
                </a:solidFill>
                <a:latin typeface="Orbitron"/>
              </a:rPr>
              <a:t>MORS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onsolas"/>
              </a:rPr>
              <a:t>DATA · SPACE · QUANTUM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6446520"/>
            <a:ext cx="5394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laythraad.github.io/ASI-HACK-Space-Analytics-Engine/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030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338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E2E8F0"/>
                </a:solidFill>
                <a:latin typeface="Orbitron"/>
              </a:rPr>
              <a:t>PROBLEMS → SOLUTIONS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25296"/>
            <a:ext cx="11338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8BDF8"/>
                </a:solidFill>
                <a:latin typeface="Consolas"/>
              </a:rPr>
              <a:t>evidence · root cause · fix · measurable delta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54864" cy="8686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55064"/>
            <a:ext cx="5074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2E8F0"/>
                </a:solidFill>
                <a:latin typeface="Segoe UI"/>
              </a:rPr>
              <a:t>Every anomaly is a 10-key card: symptom · root cause · fix · evidence · severity · category · component · priority code.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88920"/>
            <a:ext cx="54864" cy="8686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752344"/>
            <a:ext cx="5074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2E8F0"/>
                </a:solidFill>
                <a:latin typeface="Segoe UI"/>
              </a:rPr>
              <a:t>Priority is arithmetic, not opinion: 0.40·evidence + 0.35·impact + 0.25·confidence, printed on the card.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886200"/>
            <a:ext cx="54864" cy="8686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3849624"/>
            <a:ext cx="5074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2E8F0"/>
                </a:solidFill>
                <a:latin typeface="Segoe UI"/>
              </a:rPr>
              <a:t>Live card P-001: council runs local_fallback under Gemini 429 → expected delta  council.engine: local_fallback → gemini.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983480"/>
            <a:ext cx="54864" cy="8686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946904"/>
            <a:ext cx="5074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2E8F0"/>
                </a:solidFill>
                <a:latin typeface="Segoe UI"/>
              </a:rPr>
              <a:t>Live card P-006: spectral indices are reference-labelled → delta  spectral.provenance: reference spectra → scene-identified L2A.</a:t>
            </a:r>
          </a:p>
        </p:txBody>
      </p:sp>
      <p:pic>
        <p:nvPicPr>
          <p:cNvPr id="13" name="Picture 12" descr="06_sol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600200"/>
            <a:ext cx="5577840" cy="3137535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172200" y="1600200"/>
            <a:ext cx="5577840" cy="3137535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72200" y="4846320"/>
            <a:ext cx="5577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Consolas"/>
              </a:rPr>
              <a:t>SOLUTIONS.MORS · path, steps, effort, expected delta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5166360"/>
            <a:ext cx="1325880" cy="914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5352" y="525780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Consolas"/>
              </a:rPr>
              <a:t>OPEN CARDS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5352" y="5532120"/>
            <a:ext cx="1188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BBF24"/>
                </a:solidFill>
                <a:latin typeface="Orbitron"/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0" y="5166360"/>
            <a:ext cx="1325880" cy="914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62672" y="525780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Consolas"/>
              </a:rPr>
              <a:t>HIGH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62672" y="5532120"/>
            <a:ext cx="1188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BBF24"/>
                </a:solidFill>
                <a:latin typeface="Orbitron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06840" y="5166360"/>
            <a:ext cx="1325880" cy="914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9992" y="525780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Consolas"/>
              </a:rPr>
              <a:t>MEDIUM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9992" y="5532120"/>
            <a:ext cx="1188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BBF24"/>
                </a:solidFill>
                <a:latin typeface="Orbitron"/>
              </a:rPr>
              <a:t>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424160" y="5166360"/>
            <a:ext cx="1325880" cy="914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97312" y="525780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Consolas"/>
              </a:rPr>
              <a:t>SCHEMA KEYS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97312" y="5532120"/>
            <a:ext cx="1188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BBF24"/>
                </a:solidFill>
                <a:latin typeface="Orbitron"/>
              </a:rPr>
              <a:t>10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0040" y="219456"/>
            <a:ext cx="384048" cy="384048"/>
          </a:xfrm>
          <a:prstGeom prst="roundRect">
            <a:avLst>
              <a:gd name="adj" fmla="val 8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30712"/>
                </a:solidFill>
                <a:latin typeface="Orbitron"/>
              </a:rPr>
              <a:t>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219456"/>
            <a:ext cx="2194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2E8F0"/>
                </a:solidFill>
                <a:latin typeface="Orbitron"/>
              </a:rPr>
              <a:t>MORS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onsolas"/>
              </a:rPr>
              <a:t>DATA · SPACE · QUANTUM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6446520"/>
            <a:ext cx="5394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laythraad.github.io/ASI-HACK-Space-Analytics-Engine/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030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338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E2E8F0"/>
                </a:solidFill>
                <a:latin typeface="Orbitron"/>
              </a:rPr>
              <a:t>TRUSTWORTHY AI — CONFIDENCE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25296"/>
            <a:ext cx="11338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8BDF8"/>
                </a:solidFill>
                <a:latin typeface="Consolas"/>
              </a:rPr>
              <a:t>what the platform actually prints on every answer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5486400" cy="35661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BBF24"/>
                </a:solidFill>
                <a:latin typeface="Orbitron"/>
              </a:rPr>
              <a:t>STANDARD AI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502920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▪ Model runs first, data quality never inspected.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▪ Single number published, no error bounds.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▪ No source, no timestamp, no operator recorded.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▪ Failure mode looks like a confident answer.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▪ Cannot be re-run or falsified by a judge.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45920"/>
            <a:ext cx="5486400" cy="35661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905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78308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8BDF8"/>
                </a:solidFill>
                <a:latin typeface="Orbitron"/>
              </a:rPr>
              <a:t>MORS XAI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194560"/>
            <a:ext cx="502920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200" b="0">
                <a:solidFill>
                  <a:srgbClr val="E2E8F0"/>
                </a:solidFill>
                <a:latin typeface="Segoe UI"/>
              </a:rPr>
              <a:t>▪ Data audit first — ML only when statistics are insufficient.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E2E8F0"/>
                </a:solidFill>
                <a:latin typeface="Segoe UI"/>
              </a:rPr>
              <a:t>▪ Confidence level + priority formula published per card.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E2E8F0"/>
                </a:solidFill>
                <a:latin typeface="Segoe UI"/>
              </a:rPr>
              <a:t>▪ Every value carries source · timestamp · method · operator.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E2E8F0"/>
                </a:solidFill>
                <a:latin typeface="Segoe UI"/>
              </a:rPr>
              <a:t>▪ Engine honesty: local_fallback is labelled, never disguised.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E2E8F0"/>
                </a:solidFill>
                <a:latin typeface="Segoe UI"/>
              </a:rPr>
              <a:t>▪ Council of five experts cross-checks and corrects claims.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49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94A3B8"/>
                </a:solidFill>
                <a:latin typeface="Consolas"/>
              </a:rPr>
              <a:t>5-TIER PROTOCOL ON EVERY AI ANSWER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669280"/>
            <a:ext cx="2148840" cy="38404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18288" bIns="18288"/>
          <a:lstStyle/>
          <a:p>
            <a:pPr algn="ctr"/>
            <a:r>
              <a:rPr sz="950" b="1">
                <a:solidFill>
                  <a:srgbClr val="34D399"/>
                </a:solidFill>
                <a:latin typeface="Consolas"/>
              </a:rPr>
              <a:t>[Observed Data]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5669280"/>
            <a:ext cx="2148840" cy="38404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18288" bIns="18288"/>
          <a:lstStyle/>
          <a:p>
            <a:pPr algn="ctr"/>
            <a:r>
              <a:rPr sz="950" b="1">
                <a:solidFill>
                  <a:srgbClr val="34D399"/>
                </a:solidFill>
                <a:latin typeface="Consolas"/>
              </a:rPr>
              <a:t>[Calculated Metric]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5669280"/>
            <a:ext cx="2148840" cy="38404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18288" bIns="18288"/>
          <a:lstStyle/>
          <a:p>
            <a:pPr algn="ctr"/>
            <a:r>
              <a:rPr sz="950" b="1">
                <a:solidFill>
                  <a:srgbClr val="34D399"/>
                </a:solidFill>
                <a:latin typeface="Consolas"/>
              </a:rPr>
              <a:t>[AI Interpretation]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5669280"/>
            <a:ext cx="2148840" cy="38404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18288" bIns="18288"/>
          <a:lstStyle/>
          <a:p>
            <a:pPr algn="ctr"/>
            <a:r>
              <a:rPr sz="950" b="1">
                <a:solidFill>
                  <a:srgbClr val="34D399"/>
                </a:solidFill>
                <a:latin typeface="Consolas"/>
              </a:rPr>
              <a:t>[Hypothesis]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0" y="5669280"/>
            <a:ext cx="2148840" cy="38404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18288" bIns="18288"/>
          <a:lstStyle/>
          <a:p>
            <a:pPr algn="ctr"/>
            <a:r>
              <a:rPr sz="950" b="1">
                <a:solidFill>
                  <a:srgbClr val="34D399"/>
                </a:solidFill>
                <a:latin typeface="Consolas"/>
              </a:rPr>
              <a:t>[Suggested Action]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219456"/>
            <a:ext cx="384048" cy="384048"/>
          </a:xfrm>
          <a:prstGeom prst="roundRect">
            <a:avLst>
              <a:gd name="adj" fmla="val 8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30712"/>
                </a:solidFill>
                <a:latin typeface="Orbitron"/>
              </a:rPr>
              <a:t>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19456"/>
            <a:ext cx="2194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2E8F0"/>
                </a:solidFill>
                <a:latin typeface="Orbitron"/>
              </a:rPr>
              <a:t>MORS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onsolas"/>
              </a:rPr>
              <a:t>DATA · SPACE · QUANTUM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6446520"/>
            <a:ext cx="5394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laythraad.github.io/ASI-HACK-Space-Analytics-Engine/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030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338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E2E8F0"/>
                </a:solidFill>
                <a:latin typeface="Orbitron"/>
              </a:rPr>
              <a:t>HIGH-DENSITY SCIENTIFIC UI / 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25296"/>
            <a:ext cx="11338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8BDF8"/>
                </a:solidFill>
                <a:latin typeface="Consolas"/>
              </a:rPr>
              <a:t>dark glassmorphism · Orbitron + IBM Plex Mono + Cairo</a:t>
            </a:r>
          </a:p>
        </p:txBody>
      </p:sp>
      <p:pic>
        <p:nvPicPr>
          <p:cNvPr id="5" name="Picture 4" descr="02_mors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5577840" cy="313753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600200"/>
            <a:ext cx="5577840" cy="3137535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03_theme_m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600200"/>
            <a:ext cx="5577840" cy="313753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72200" y="1600200"/>
            <a:ext cx="5577840" cy="3137535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7200" y="4846320"/>
            <a:ext cx="5577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Consolas"/>
              </a:rPr>
              <a:t>EARTH CYAN · dark glass panels · lifecycle ribbon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4846320"/>
            <a:ext cx="5577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Consolas"/>
              </a:rPr>
              <a:t>MARS RUST · planet theme engine · one click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212080"/>
            <a:ext cx="5577840" cy="10515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32180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E2E8F0"/>
                </a:solidFill>
                <a:latin typeface="Segoe UI"/>
              </a:rPr>
              <a:t>Planet themes: Earth · Mars · Jupiter · Saturn · Neptune · Moon,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E2E8F0"/>
                </a:solidFill>
                <a:latin typeface="Segoe UI"/>
              </a:rPr>
              <a:t>plus light/dark, accent layers, grid and particle toggles.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5212080"/>
            <a:ext cx="5577840" cy="10515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532180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E2E8F0"/>
                </a:solidFill>
                <a:latin typeface="Segoe UI"/>
              </a:rPr>
              <a:t>Accordion sidebar: DATA · ASTRONOMY · SATELLITE · QUANTUM · AI ·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E2E8F0"/>
                </a:solidFill>
                <a:latin typeface="Segoe UI"/>
              </a:rPr>
              <a:t>PROBLEMS→SOLUTIONS, with global search and instant switching.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219456"/>
            <a:ext cx="384048" cy="384048"/>
          </a:xfrm>
          <a:prstGeom prst="roundRect">
            <a:avLst>
              <a:gd name="adj" fmla="val 8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30712"/>
                </a:solidFill>
                <a:latin typeface="Orbitron"/>
              </a:rPr>
              <a:t>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19456"/>
            <a:ext cx="2194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2E8F0"/>
                </a:solidFill>
                <a:latin typeface="Orbitron"/>
              </a:rPr>
              <a:t>MORS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onsolas"/>
              </a:rPr>
              <a:t>DATA · SPACE · QUANTUM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46520"/>
            <a:ext cx="5394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laythraad.github.io/ASI-HACK-Space-Analytics-Engine/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46520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030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338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E2E8F0"/>
                </a:solidFill>
                <a:latin typeface="Orbitron"/>
              </a:rPr>
              <a:t>ENGINEERING CAPABILITIES — TEAM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25296"/>
            <a:ext cx="11338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8BDF8"/>
                </a:solidFill>
                <a:latin typeface="Consolas"/>
              </a:rPr>
              <a:t>4 members · published roles · module ownership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5486400" cy="2148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64792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38BDF8"/>
                </a:solidFill>
                <a:latin typeface="Orbitron"/>
              </a:rPr>
              <a:t>TEAM LEADER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Consolas"/>
              </a:rPr>
              <a:t>ليث رعد · Layth Ra'ad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5120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Segoe UI"/>
              </a:rPr>
              <a:t>System Architecture · Pipeline Orchestration · Scientific Computing · Technical Review · Scientific Visualization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01568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Consolas"/>
              </a:rPr>
              <a:t>owns: MORS architecture · HOME · PROJECTS · TEAM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645920"/>
            <a:ext cx="5486400" cy="2148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764792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34D399"/>
                </a:solidFill>
                <a:latin typeface="Orbitron"/>
              </a:rPr>
              <a:t>DATA ANALYST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05740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Consolas"/>
              </a:rPr>
              <a:t>role seat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377440"/>
            <a:ext cx="5120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Segoe UI"/>
              </a:rPr>
              <a:t>Data Cleaning · EDA · Statistical Analysis · Time Series · Anomaly Detection · SQL · Feature Engineering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401568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Consolas"/>
              </a:rPr>
              <a:t>owns: DATA.MORS · PROBLEMS.MORS · SOLUTIONS.MORS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77639"/>
            <a:ext cx="5486400" cy="2148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587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096511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FBBF24"/>
                </a:solidFill>
                <a:latin typeface="Orbitron"/>
              </a:rPr>
              <a:t>ASTRONOMY RESEARCHER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8912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Consolas"/>
              </a:rPr>
              <a:t>role seat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09159"/>
            <a:ext cx="5120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Segoe UI"/>
              </a:rPr>
              <a:t>Astropy · FITS Analysis · Photometry · Spectroscopy · Light-Curve Analysis · Sky Coordinates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733288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Consolas"/>
              </a:rPr>
              <a:t>owns: ASTRONOMY.MORS · SOURCES.MORS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977639"/>
            <a:ext cx="5486400" cy="2148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096511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38BDF8"/>
                </a:solidFill>
                <a:latin typeface="Orbitron"/>
              </a:rPr>
              <a:t>SPACE SYSTEMS &amp; AI ENGINEER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38912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Consolas"/>
              </a:rPr>
              <a:t>role seat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709159"/>
            <a:ext cx="5120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Segoe UI"/>
              </a:rPr>
              <a:t>Satellite &amp; Orbit Analysis · AI Model Integration · Quantum Computing · Remote Sensing · Scientific Computing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733288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Consolas"/>
              </a:rPr>
              <a:t>owns: AI.MORS · SATELLITE.MORS · QUANTUM.MORS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" y="219456"/>
            <a:ext cx="384048" cy="384048"/>
          </a:xfrm>
          <a:prstGeom prst="roundRect">
            <a:avLst>
              <a:gd name="adj" fmla="val 8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30712"/>
                </a:solidFill>
                <a:latin typeface="Orbitron"/>
              </a:rPr>
              <a:t>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219456"/>
            <a:ext cx="2194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2E8F0"/>
                </a:solidFill>
                <a:latin typeface="Orbitron"/>
              </a:rPr>
              <a:t>MORS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onsolas"/>
              </a:rPr>
              <a:t>DATA · SPACE · QUANTUM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6446520"/>
            <a:ext cx="5394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laythraad.github.io/ASI-HACK-Space-Analytics-Engine/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030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338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E2E8F0"/>
                </a:solidFill>
                <a:latin typeface="Orbitron"/>
              </a:rPr>
              <a:t>MEASURABLE PLATFORM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25296"/>
            <a:ext cx="11338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8BDF8"/>
                </a:solidFill>
                <a:latin typeface="Consolas"/>
              </a:rPr>
              <a:t>every number below is printed by the live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91640"/>
            <a:ext cx="2697480" cy="19202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874519"/>
            <a:ext cx="2468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8BDF8"/>
                </a:solidFill>
                <a:latin typeface="Orbitron"/>
              </a:rPr>
              <a:t>225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60320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Consolas"/>
              </a:rPr>
              <a:t>AUTOMATED CHECKS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80360"/>
            <a:ext cx="2468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0 failures · ~1 min run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691640"/>
            <a:ext cx="2697480" cy="19202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874519"/>
            <a:ext cx="2468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4D399"/>
                </a:solidFill>
                <a:latin typeface="Orbitron"/>
              </a:rPr>
              <a:t>99.81%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60320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Consolas"/>
              </a:rPr>
              <a:t>DATA QUALITY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880360"/>
            <a:ext cx="2468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8,840 cells · 1,711 rows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91640"/>
            <a:ext cx="2697480" cy="19202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587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874519"/>
            <a:ext cx="2468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BBF24"/>
                </a:solidFill>
                <a:latin typeface="Orbitron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560320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Consolas"/>
              </a:rPr>
              <a:t>TRACEABILITY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880360"/>
            <a:ext cx="2468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source · time · method · operator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691640"/>
            <a:ext cx="2697480" cy="19202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1874519"/>
            <a:ext cx="2468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8BDF8"/>
                </a:solidFill>
                <a:latin typeface="Orbitron"/>
              </a:rPr>
              <a:t>96/100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2560320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Consolas"/>
              </a:rPr>
              <a:t>COUNCIL VERDICT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880360"/>
            <a:ext cx="2468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CERTIFIED · 5 experts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886200"/>
            <a:ext cx="11292840" cy="2148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8BDF8"/>
                </a:solidFill>
                <a:latin typeface="Orbitron"/>
              </a:rPr>
              <a:t>SUPPORTING 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389120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2E8F0"/>
                </a:solidFill>
                <a:latin typeface="Segoe UI"/>
              </a:rPr>
              <a:t>▸ 21 cited formulas · 14 references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4389120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2E8F0"/>
                </a:solidFill>
                <a:latin typeface="Segoe UI"/>
              </a:rPr>
              <a:t>▸ 16 curated sources + 12 data sources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773168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2E8F0"/>
                </a:solidFill>
                <a:latin typeface="Segoe UI"/>
              </a:rPr>
              <a:t>▸ 8 live endpoints (NASA · NOAA · CelesTrak · GIBS)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773168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2E8F0"/>
                </a:solidFill>
                <a:latin typeface="Segoe UI"/>
              </a:rPr>
              <a:t>▸ 8/8 challenge conditions (7 core + 1 extension)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157216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2E8F0"/>
                </a:solidFill>
                <a:latin typeface="Segoe UI"/>
              </a:rPr>
              <a:t>▸ 18 UI modules · 19 registered endpoints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5157216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2E8F0"/>
                </a:solidFill>
                <a:latin typeface="Segoe UI"/>
              </a:rPr>
              <a:t>▸ 6 published master prompts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541264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2E8F0"/>
                </a:solidFill>
                <a:latin typeface="Segoe UI"/>
              </a:rPr>
              <a:t>▸ 5 problem cards · 10-key schema each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5541264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2E8F0"/>
                </a:solidFill>
                <a:latin typeface="Segoe UI"/>
              </a:rPr>
              <a:t>▸ 44-page scientific report, auto-generated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0040" y="219456"/>
            <a:ext cx="384048" cy="384048"/>
          </a:xfrm>
          <a:prstGeom prst="roundRect">
            <a:avLst>
              <a:gd name="adj" fmla="val 8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30712"/>
                </a:solidFill>
                <a:latin typeface="Orbitron"/>
              </a:rPr>
              <a:t>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219456"/>
            <a:ext cx="2194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2E8F0"/>
                </a:solidFill>
                <a:latin typeface="Orbitron"/>
              </a:rPr>
              <a:t>MORS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onsolas"/>
              </a:rPr>
              <a:t>DATA · SPACE · QUANTUM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6446520"/>
            <a:ext cx="5394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laythraad.github.io/ASI-HACK-Space-Analytics-Engine/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446520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09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030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338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E2E8F0"/>
                </a:solidFill>
                <a:latin typeface="Orbitron"/>
              </a:rPr>
              <a:t>THE FUTURE OF SPACE DATA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25296"/>
            <a:ext cx="11338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8BDF8"/>
                </a:solidFill>
                <a:latin typeface="Consolas"/>
              </a:rPr>
              <a:t>build · learn · innovate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6766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E2E8F0"/>
                </a:solidFill>
                <a:latin typeface="Segoe UI"/>
              </a:rPr>
              <a:t>Try the live engine — no install, no account: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8229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38BDF8"/>
                </a:solidFill>
                <a:latin typeface="Orbitron"/>
              </a:rPr>
              <a:t>https://laythraad.github.io/ASI-HACK-Space-Analytics-Engine/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80360"/>
            <a:ext cx="69494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E2E8F0"/>
                </a:solidFill>
                <a:latin typeface="Segoe UI"/>
              </a:rPr>
              <a:t>Next: deeper NASA / ESA live integration,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E2E8F0"/>
                </a:solidFill>
                <a:latin typeface="Segoe UI"/>
              </a:rPr>
              <a:t>real Sentinel-2 L2A scene ingestion for the spectral module,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E2E8F0"/>
                </a:solidFill>
                <a:latin typeface="Segoe UI"/>
              </a:rPr>
              <a:t>and scaling the quantum block beyond the classical statevector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E2E8F0"/>
                </a:solidFill>
                <a:latin typeface="Segoe UI"/>
              </a:rPr>
              <a:t>(labelled honestly today as simulation, never as QPU output).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892040"/>
            <a:ext cx="6949440" cy="11887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029200"/>
            <a:ext cx="6583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34D399"/>
                </a:solidFill>
                <a:latin typeface="Consolas"/>
              </a:rPr>
              <a:t>CERTIFIED 96/100 · 225 checks · 0 failures · 8/8 conditions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34D399"/>
                </a:solidFill>
                <a:latin typeface="Consolas"/>
              </a:rPr>
              <a:t>Open the link above and click through every module yourself.</a:t>
            </a:r>
          </a:p>
        </p:txBody>
      </p:sp>
      <p:pic>
        <p:nvPicPr>
          <p:cNvPr id="10" name="Picture 9" descr="qr_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1920240"/>
            <a:ext cx="237744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778240" y="4389120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Consolas"/>
              </a:rPr>
              <a:t>SCAN → LIVE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937760"/>
            <a:ext cx="3657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>
                <a:solidFill>
                  <a:srgbClr val="94A3B8"/>
                </a:solidFill>
                <a:latin typeface="Consolas"/>
              </a:rPr>
              <a:t>Team</a:t>
            </a:r>
          </a:p>
          <a:p>
            <a:pPr algn="ctr">
              <a:spcAft>
                <a:spcPts val="200"/>
              </a:spcAft>
            </a:pPr>
            <a:r>
              <a:rPr sz="1300" b="1">
                <a:solidFill>
                  <a:srgbClr val="E2E8F0"/>
                </a:solidFill>
                <a:latin typeface="Segoe UI"/>
              </a:rPr>
              <a:t>ليث رعد (Team Leader)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Data Analyst · Astronomy Researcher ·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Space Systems &amp; AI Engineer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219456"/>
            <a:ext cx="384048" cy="384048"/>
          </a:xfrm>
          <a:prstGeom prst="roundRect">
            <a:avLst>
              <a:gd name="adj" fmla="val 8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30712"/>
                </a:solidFill>
                <a:latin typeface="Orbitron"/>
              </a:rPr>
              <a:t>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19456"/>
            <a:ext cx="2194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2E8F0"/>
                </a:solidFill>
                <a:latin typeface="Orbitron"/>
              </a:rPr>
              <a:t>MORS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onsolas"/>
              </a:rPr>
              <a:t>DATA · SPACE · QUANTUM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6446520"/>
            <a:ext cx="5394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laythraad.github.io/ASI-HACK-Space-Analytics-Engine/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